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Aptos"/>
      </a:defRPr>
    </a:lvl1pPr>
    <a:lvl2pPr indent="228600" latinLnBrk="0">
      <a:defRPr sz="1200">
        <a:latin typeface="+mn-lt"/>
        <a:ea typeface="+mn-ea"/>
        <a:cs typeface="+mn-cs"/>
        <a:sym typeface="Aptos"/>
      </a:defRPr>
    </a:lvl2pPr>
    <a:lvl3pPr indent="457200" latinLnBrk="0">
      <a:defRPr sz="1200">
        <a:latin typeface="+mn-lt"/>
        <a:ea typeface="+mn-ea"/>
        <a:cs typeface="+mn-cs"/>
        <a:sym typeface="Aptos"/>
      </a:defRPr>
    </a:lvl3pPr>
    <a:lvl4pPr indent="685800" latinLnBrk="0">
      <a:defRPr sz="1200">
        <a:latin typeface="+mn-lt"/>
        <a:ea typeface="+mn-ea"/>
        <a:cs typeface="+mn-cs"/>
        <a:sym typeface="Aptos"/>
      </a:defRPr>
    </a:lvl4pPr>
    <a:lvl5pPr indent="914400" latinLnBrk="0">
      <a:defRPr sz="1200">
        <a:latin typeface="+mn-lt"/>
        <a:ea typeface="+mn-ea"/>
        <a:cs typeface="+mn-cs"/>
        <a:sym typeface="Aptos"/>
      </a:defRPr>
    </a:lvl5pPr>
    <a:lvl6pPr indent="1143000" latinLnBrk="0">
      <a:defRPr sz="1200">
        <a:latin typeface="+mn-lt"/>
        <a:ea typeface="+mn-ea"/>
        <a:cs typeface="+mn-cs"/>
        <a:sym typeface="Aptos"/>
      </a:defRPr>
    </a:lvl6pPr>
    <a:lvl7pPr indent="1371600" latinLnBrk="0">
      <a:defRPr sz="1200">
        <a:latin typeface="+mn-lt"/>
        <a:ea typeface="+mn-ea"/>
        <a:cs typeface="+mn-cs"/>
        <a:sym typeface="Aptos"/>
      </a:defRPr>
    </a:lvl7pPr>
    <a:lvl8pPr indent="1600200" latinLnBrk="0">
      <a:defRPr sz="1200">
        <a:latin typeface="+mn-lt"/>
        <a:ea typeface="+mn-ea"/>
        <a:cs typeface="+mn-cs"/>
        <a:sym typeface="Aptos"/>
      </a:defRPr>
    </a:lvl8pPr>
    <a:lvl9pPr indent="18288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457200" y="69056"/>
            <a:ext cx="8229600" cy="11310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" name="Shape 1"/>
          <p:cNvSpPr/>
          <p:nvPr/>
        </p:nvSpPr>
        <p:spPr>
          <a:xfrm>
            <a:off x="6858000" y="3840479"/>
            <a:ext cx="2286000" cy="1303021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" name="Shape 2"/>
          <p:cNvSpPr/>
          <p:nvPr/>
        </p:nvSpPr>
        <p:spPr>
          <a:xfrm>
            <a:off x="822960" y="822960"/>
            <a:ext cx="2150501" cy="320041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" name="Text 3"/>
          <p:cNvSpPr txBox="1"/>
          <p:nvPr/>
        </p:nvSpPr>
        <p:spPr>
          <a:xfrm>
            <a:off x="868680" y="880023"/>
            <a:ext cx="20590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pc="100" sz="900">
                <a:solidFill>
                  <a:srgbClr val="CCFBF1"/>
                </a:solidFill>
              </a:defRPr>
            </a:lvl1pPr>
          </a:lstStyle>
          <a:p>
            <a:pPr/>
            <a:r>
              <a:t>CSCI 434 ·  COLL 400 Capstone</a:t>
            </a:r>
          </a:p>
        </p:txBody>
      </p:sp>
      <p:sp>
        <p:nvSpPr>
          <p:cNvPr id="24" name="Text 4"/>
          <p:cNvSpPr txBox="1"/>
          <p:nvPr/>
        </p:nvSpPr>
        <p:spPr>
          <a:xfrm>
            <a:off x="822960" y="1450860"/>
            <a:ext cx="7680961" cy="13959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lnSpc>
                <a:spcPct val="110000"/>
              </a:lnSpc>
              <a:defRPr b="1" sz="4400">
                <a:solidFill>
                  <a:srgbClr val="FFFFFF"/>
                </a:solidFill>
              </a:defRPr>
            </a:pPr>
            <a:r>
              <a:t>Network Traffic</a:t>
            </a:r>
          </a:p>
          <a:p>
            <a:pPr>
              <a:lnSpc>
                <a:spcPct val="110000"/>
              </a:lnSpc>
              <a:defRPr b="1" sz="4400">
                <a:solidFill>
                  <a:srgbClr val="FFFFFF"/>
                </a:solidFill>
              </a:defRPr>
            </a:pPr>
            <a:r>
              <a:t>Classification</a:t>
            </a:r>
          </a:p>
        </p:txBody>
      </p:sp>
      <p:sp>
        <p:nvSpPr>
          <p:cNvPr id="25" name="Text 5"/>
          <p:cNvSpPr txBox="1"/>
          <p:nvPr/>
        </p:nvSpPr>
        <p:spPr>
          <a:xfrm>
            <a:off x="822960" y="3161250"/>
            <a:ext cx="5852161" cy="5812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lnSpc>
                <a:spcPct val="140000"/>
              </a:lnSpc>
              <a:defRPr sz="1500">
                <a:solidFill>
                  <a:srgbClr val="94A3B8"/>
                </a:solidFill>
              </a:defRPr>
            </a:pPr>
            <a:r>
              <a:t>Using Machine Learning to Identify Websites</a:t>
            </a:r>
          </a:p>
          <a:p>
            <a:pPr>
              <a:lnSpc>
                <a:spcPct val="140000"/>
              </a:lnSpc>
              <a:defRPr sz="1500">
                <a:solidFill>
                  <a:srgbClr val="94A3B8"/>
                </a:solidFill>
              </a:defRPr>
            </a:pPr>
            <a:r>
              <a:t>from Encrypted Network Packets</a:t>
            </a:r>
          </a:p>
        </p:txBody>
      </p:sp>
      <p:sp>
        <p:nvSpPr>
          <p:cNvPr id="26" name="Text 6"/>
          <p:cNvSpPr txBox="1"/>
          <p:nvPr/>
        </p:nvSpPr>
        <p:spPr>
          <a:xfrm>
            <a:off x="822960" y="4503464"/>
            <a:ext cx="539496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/>
            <a:r>
              <a:t>Sam, Levi, Lauren, Alex, Timmy, Joe ·  William &amp; Mary 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" name="Text 1"/>
          <p:cNvSpPr txBox="1"/>
          <p:nvPr/>
        </p:nvSpPr>
        <p:spPr>
          <a:xfrm>
            <a:off x="338328" y="217459"/>
            <a:ext cx="3566161" cy="1960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800">
                <a:solidFill>
                  <a:srgbClr val="0D9488"/>
                </a:solidFill>
              </a:defRPr>
            </a:lvl1pPr>
          </a:lstStyle>
          <a:p>
            <a:pPr/>
            <a:r>
              <a:t>BACKGROUND</a:t>
            </a:r>
          </a:p>
        </p:txBody>
      </p:sp>
      <p:sp>
        <p:nvSpPr>
          <p:cNvPr id="30" name="Text 2"/>
          <p:cNvSpPr txBox="1"/>
          <p:nvPr/>
        </p:nvSpPr>
        <p:spPr>
          <a:xfrm>
            <a:off x="338328" y="581268"/>
            <a:ext cx="8503920" cy="4376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600">
                <a:solidFill>
                  <a:srgbClr val="1A2744"/>
                </a:solidFill>
              </a:defRPr>
            </a:lvl1pPr>
          </a:lstStyle>
          <a:p>
            <a:pPr/>
            <a:r>
              <a:t>Objective</a:t>
            </a:r>
          </a:p>
        </p:txBody>
      </p:sp>
      <p:sp>
        <p:nvSpPr>
          <p:cNvPr id="31" name="Text 4"/>
          <p:cNvSpPr txBox="1"/>
          <p:nvPr/>
        </p:nvSpPr>
        <p:spPr>
          <a:xfrm>
            <a:off x="8092439" y="4697643"/>
            <a:ext cx="8229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4748B"/>
                </a:solidFill>
              </a:defRPr>
            </a:lvl1pPr>
          </a:lstStyle>
          <a:p>
            <a:pPr/>
            <a:r>
              <a:t>2 / 9</a:t>
            </a:r>
          </a:p>
        </p:txBody>
      </p:sp>
      <p:sp>
        <p:nvSpPr>
          <p:cNvPr id="32" name="Shape 5"/>
          <p:cNvSpPr/>
          <p:nvPr/>
        </p:nvSpPr>
        <p:spPr>
          <a:xfrm>
            <a:off x="292608" y="1298447"/>
            <a:ext cx="8558784" cy="749809"/>
          </a:xfrm>
          <a:prstGeom prst="rect">
            <a:avLst/>
          </a:prstGeom>
          <a:solidFill>
            <a:srgbClr val="CCFBF1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3" name="Text 6"/>
          <p:cNvSpPr txBox="1"/>
          <p:nvPr/>
        </p:nvSpPr>
        <p:spPr>
          <a:xfrm>
            <a:off x="502919" y="1544251"/>
            <a:ext cx="8138162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300">
                <a:solidFill>
                  <a:srgbClr val="0F766E"/>
                </a:solidFill>
              </a:defRPr>
            </a:lvl1pPr>
          </a:lstStyle>
          <a:p>
            <a:pPr/>
            <a:r>
              <a:t>Can we identify which website someone is visiting without ever seeing the URL or reading encrypted data?</a:t>
            </a:r>
          </a:p>
        </p:txBody>
      </p:sp>
      <p:sp>
        <p:nvSpPr>
          <p:cNvPr id="34" name="Shape 7"/>
          <p:cNvSpPr/>
          <p:nvPr/>
        </p:nvSpPr>
        <p:spPr>
          <a:xfrm>
            <a:off x="292608" y="2212848"/>
            <a:ext cx="2834640" cy="254203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" rotWithShape="0" blurRad="63500" dist="12700" dir="8100000">
              <a:srgbClr val="000000">
                <a:alpha val="7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35" name="Shape 8"/>
          <p:cNvSpPr/>
          <p:nvPr/>
        </p:nvSpPr>
        <p:spPr>
          <a:xfrm>
            <a:off x="292608" y="2212848"/>
            <a:ext cx="2834640" cy="54865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6" name="Text 9"/>
          <p:cNvSpPr txBox="1"/>
          <p:nvPr/>
        </p:nvSpPr>
        <p:spPr>
          <a:xfrm>
            <a:off x="502920" y="2376355"/>
            <a:ext cx="2414016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1A2744"/>
                </a:solidFill>
              </a:defRPr>
            </a:lvl1pPr>
          </a:lstStyle>
          <a:p>
            <a:pPr/>
            <a:r>
              <a:t>Network Security</a:t>
            </a:r>
          </a:p>
        </p:txBody>
      </p:sp>
      <p:sp>
        <p:nvSpPr>
          <p:cNvPr id="37" name="Text 10"/>
          <p:cNvSpPr txBox="1"/>
          <p:nvPr/>
        </p:nvSpPr>
        <p:spPr>
          <a:xfrm>
            <a:off x="502920" y="3343902"/>
            <a:ext cx="2414016" cy="4445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40000"/>
              </a:lnSpc>
              <a:defRPr sz="1100">
                <a:solidFill>
                  <a:srgbClr val="64748B"/>
                </a:solidFill>
              </a:defRPr>
            </a:lvl1pPr>
          </a:lstStyle>
          <a:p>
            <a:pPr/>
            <a:r>
              <a:t>Detect unusual or malicious traffic patterns without decrypting private data</a:t>
            </a:r>
          </a:p>
        </p:txBody>
      </p:sp>
      <p:sp>
        <p:nvSpPr>
          <p:cNvPr id="38" name="Shape 11"/>
          <p:cNvSpPr/>
          <p:nvPr/>
        </p:nvSpPr>
        <p:spPr>
          <a:xfrm>
            <a:off x="3310128" y="2212848"/>
            <a:ext cx="2834641" cy="254203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" rotWithShape="0" blurRad="63500" dist="12700" dir="8100000">
              <a:srgbClr val="000000">
                <a:alpha val="7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39" name="Shape 12"/>
          <p:cNvSpPr/>
          <p:nvPr/>
        </p:nvSpPr>
        <p:spPr>
          <a:xfrm>
            <a:off x="3310128" y="2212848"/>
            <a:ext cx="2834641" cy="54865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0" name="Text 13"/>
          <p:cNvSpPr txBox="1"/>
          <p:nvPr/>
        </p:nvSpPr>
        <p:spPr>
          <a:xfrm>
            <a:off x="3520440" y="2376355"/>
            <a:ext cx="2414017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1A2744"/>
                </a:solidFill>
              </a:defRPr>
            </a:lvl1pPr>
          </a:lstStyle>
          <a:p>
            <a:pPr/>
            <a:r>
              <a:t>Network Management</a:t>
            </a:r>
          </a:p>
        </p:txBody>
      </p:sp>
      <p:sp>
        <p:nvSpPr>
          <p:cNvPr id="41" name="Text 14"/>
          <p:cNvSpPr txBox="1"/>
          <p:nvPr/>
        </p:nvSpPr>
        <p:spPr>
          <a:xfrm>
            <a:off x="3520440" y="3343902"/>
            <a:ext cx="2414017" cy="4445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40000"/>
              </a:lnSpc>
              <a:defRPr sz="1100">
                <a:solidFill>
                  <a:srgbClr val="64748B"/>
                </a:solidFill>
              </a:defRPr>
            </a:lvl1pPr>
          </a:lstStyle>
          <a:p>
            <a:pPr/>
            <a:r>
              <a:t>Identify traffic sources to balance load and optimize performance</a:t>
            </a:r>
          </a:p>
        </p:txBody>
      </p:sp>
      <p:sp>
        <p:nvSpPr>
          <p:cNvPr id="42" name="Shape 15"/>
          <p:cNvSpPr/>
          <p:nvPr/>
        </p:nvSpPr>
        <p:spPr>
          <a:xfrm>
            <a:off x="6327647" y="2212848"/>
            <a:ext cx="2834641" cy="254203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" rotWithShape="0" blurRad="63500" dist="12700" dir="8100000">
              <a:srgbClr val="000000">
                <a:alpha val="7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43" name="Shape 16"/>
          <p:cNvSpPr/>
          <p:nvPr/>
        </p:nvSpPr>
        <p:spPr>
          <a:xfrm>
            <a:off x="6327647" y="2212848"/>
            <a:ext cx="2834641" cy="54865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4" name="Text 17"/>
          <p:cNvSpPr txBox="1"/>
          <p:nvPr/>
        </p:nvSpPr>
        <p:spPr>
          <a:xfrm>
            <a:off x="6537960" y="2376355"/>
            <a:ext cx="2414017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1A2744"/>
                </a:solidFill>
              </a:defRPr>
            </a:lvl1pPr>
          </a:lstStyle>
          <a:p>
            <a:pPr/>
            <a:r>
              <a:t>Policy Enforcement</a:t>
            </a:r>
          </a:p>
        </p:txBody>
      </p:sp>
      <p:sp>
        <p:nvSpPr>
          <p:cNvPr id="45" name="Text 18"/>
          <p:cNvSpPr txBox="1"/>
          <p:nvPr/>
        </p:nvSpPr>
        <p:spPr>
          <a:xfrm>
            <a:off x="6537960" y="3343902"/>
            <a:ext cx="2414017" cy="4445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40000"/>
              </a:lnSpc>
              <a:defRPr sz="1100">
                <a:solidFill>
                  <a:srgbClr val="64748B"/>
                </a:solidFill>
              </a:defRPr>
            </a:lvl1pPr>
          </a:lstStyle>
          <a:p>
            <a:pPr/>
            <a:r>
              <a:t>ISPs and admins can classify traffic types to enforce access policies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8" name="Text 1"/>
          <p:cNvSpPr txBox="1"/>
          <p:nvPr/>
        </p:nvSpPr>
        <p:spPr>
          <a:xfrm>
            <a:off x="338328" y="217459"/>
            <a:ext cx="3566161" cy="1960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800">
                <a:solidFill>
                  <a:srgbClr val="0D9488"/>
                </a:solidFill>
              </a:defRPr>
            </a:lvl1pPr>
          </a:lstStyle>
          <a:p>
            <a:pPr/>
            <a:r>
              <a:t>PROPOSED METHOD</a:t>
            </a:r>
          </a:p>
        </p:txBody>
      </p:sp>
      <p:sp>
        <p:nvSpPr>
          <p:cNvPr id="49" name="Text 2"/>
          <p:cNvSpPr txBox="1"/>
          <p:nvPr/>
        </p:nvSpPr>
        <p:spPr>
          <a:xfrm>
            <a:off x="338328" y="423188"/>
            <a:ext cx="8503920" cy="4376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600">
                <a:solidFill>
                  <a:srgbClr val="1A2744"/>
                </a:solidFill>
              </a:defRPr>
            </a:lvl1pPr>
          </a:lstStyle>
          <a:p>
            <a:pPr/>
            <a:r>
              <a:t>Data Collection</a:t>
            </a:r>
          </a:p>
        </p:txBody>
      </p:sp>
      <p:sp>
        <p:nvSpPr>
          <p:cNvPr id="50" name="Text 4"/>
          <p:cNvSpPr txBox="1"/>
          <p:nvPr/>
        </p:nvSpPr>
        <p:spPr>
          <a:xfrm>
            <a:off x="8092439" y="4697643"/>
            <a:ext cx="8229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4748B"/>
                </a:solidFill>
              </a:defRPr>
            </a:lvl1pPr>
          </a:lstStyle>
          <a:p>
            <a:pPr/>
            <a:r>
              <a:t>3 / 9</a:t>
            </a:r>
          </a:p>
        </p:txBody>
      </p:sp>
      <p:sp>
        <p:nvSpPr>
          <p:cNvPr id="51" name="Shape 5"/>
          <p:cNvSpPr/>
          <p:nvPr/>
        </p:nvSpPr>
        <p:spPr>
          <a:xfrm>
            <a:off x="292608" y="1025949"/>
            <a:ext cx="1828801" cy="141732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" rotWithShape="0" blurRad="50800" dist="12700" dir="8100000">
              <a:srgbClr val="000000">
                <a:alpha val="7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2" name="Shape 6"/>
          <p:cNvSpPr/>
          <p:nvPr/>
        </p:nvSpPr>
        <p:spPr>
          <a:xfrm>
            <a:off x="292608" y="969990"/>
            <a:ext cx="1828801" cy="54865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3" name="Text 11"/>
          <p:cNvSpPr txBox="1"/>
          <p:nvPr/>
        </p:nvSpPr>
        <p:spPr>
          <a:xfrm>
            <a:off x="466343" y="1584491"/>
            <a:ext cx="1481330" cy="654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35000"/>
              </a:lnSpc>
              <a:defRPr sz="1000">
                <a:solidFill>
                  <a:srgbClr val="64748B"/>
                </a:solidFill>
              </a:defRPr>
            </a:lvl1pPr>
          </a:lstStyle>
          <a:p>
            <a:pPr/>
            <a:r>
              <a:t>About a minute of browsing per session (depending on site)</a:t>
            </a:r>
          </a:p>
        </p:txBody>
      </p:sp>
      <p:sp>
        <p:nvSpPr>
          <p:cNvPr id="54" name="Shape 13"/>
          <p:cNvSpPr/>
          <p:nvPr/>
        </p:nvSpPr>
        <p:spPr>
          <a:xfrm>
            <a:off x="300367" y="2671870"/>
            <a:ext cx="1828801" cy="141732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" rotWithShape="0" blurRad="50800" dist="12700" dir="8100000">
              <a:srgbClr val="000000">
                <a:alpha val="7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5" name="Shape 14"/>
          <p:cNvSpPr/>
          <p:nvPr/>
        </p:nvSpPr>
        <p:spPr>
          <a:xfrm>
            <a:off x="300367" y="2671870"/>
            <a:ext cx="1828801" cy="54865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6" name="Text 19"/>
          <p:cNvSpPr txBox="1"/>
          <p:nvPr/>
        </p:nvSpPr>
        <p:spPr>
          <a:xfrm>
            <a:off x="474102" y="3392909"/>
            <a:ext cx="1481330" cy="4415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35000"/>
              </a:lnSpc>
              <a:defRPr sz="1000">
                <a:solidFill>
                  <a:srgbClr val="64748B"/>
                </a:solidFill>
              </a:defRPr>
            </a:lvl1pPr>
          </a:lstStyle>
          <a:p>
            <a:pPr/>
            <a:r>
              <a:t>Wireshark records all traffic during the session</a:t>
            </a:r>
          </a:p>
        </p:txBody>
      </p:sp>
      <p:sp>
        <p:nvSpPr>
          <p:cNvPr id="57" name="Shape 21"/>
          <p:cNvSpPr/>
          <p:nvPr/>
        </p:nvSpPr>
        <p:spPr>
          <a:xfrm>
            <a:off x="2363586" y="960119"/>
            <a:ext cx="1828801" cy="14753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" rotWithShape="0" blurRad="50800" dist="12700" dir="8100000">
              <a:srgbClr val="000000">
                <a:alpha val="7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8" name="Shape 22"/>
          <p:cNvSpPr/>
          <p:nvPr/>
        </p:nvSpPr>
        <p:spPr>
          <a:xfrm>
            <a:off x="2363586" y="963235"/>
            <a:ext cx="1828801" cy="54865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9" name="Text 27"/>
          <p:cNvSpPr txBox="1"/>
          <p:nvPr/>
        </p:nvSpPr>
        <p:spPr>
          <a:xfrm>
            <a:off x="2537322" y="1739138"/>
            <a:ext cx="1481329" cy="4415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35000"/>
              </a:lnSpc>
              <a:defRPr sz="1000">
                <a:solidFill>
                  <a:srgbClr val="64748B"/>
                </a:solidFill>
              </a:defRPr>
            </a:lvl1pPr>
          </a:lstStyle>
          <a:p>
            <a:pPr/>
            <a:r>
              <a:t>Save as .pcapng — one file = one record</a:t>
            </a:r>
          </a:p>
        </p:txBody>
      </p:sp>
      <p:sp>
        <p:nvSpPr>
          <p:cNvPr id="60" name="Shape 29"/>
          <p:cNvSpPr/>
          <p:nvPr/>
        </p:nvSpPr>
        <p:spPr>
          <a:xfrm>
            <a:off x="2363586" y="2671869"/>
            <a:ext cx="1828801" cy="141732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" rotWithShape="0" blurRad="50800" dist="12700" dir="8100000">
              <a:srgbClr val="000000">
                <a:alpha val="7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61" name="Shape 30"/>
          <p:cNvSpPr/>
          <p:nvPr/>
        </p:nvSpPr>
        <p:spPr>
          <a:xfrm>
            <a:off x="2363586" y="2671869"/>
            <a:ext cx="1828801" cy="54865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2" name="Text 7"/>
          <p:cNvSpPr txBox="1"/>
          <p:nvPr/>
        </p:nvSpPr>
        <p:spPr>
          <a:xfrm>
            <a:off x="466343" y="1131342"/>
            <a:ext cx="256033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63" name="Shape 8"/>
          <p:cNvSpPr/>
          <p:nvPr/>
        </p:nvSpPr>
        <p:spPr>
          <a:xfrm>
            <a:off x="420623" y="1098006"/>
            <a:ext cx="347473" cy="347473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4" name="Text 9"/>
          <p:cNvSpPr txBox="1"/>
          <p:nvPr/>
        </p:nvSpPr>
        <p:spPr>
          <a:xfrm>
            <a:off x="466343" y="1142641"/>
            <a:ext cx="256033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65" name="Text 10"/>
          <p:cNvSpPr txBox="1"/>
          <p:nvPr/>
        </p:nvSpPr>
        <p:spPr>
          <a:xfrm>
            <a:off x="905256" y="1152161"/>
            <a:ext cx="1042416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1A2744"/>
                </a:solidFill>
              </a:defRPr>
            </a:lvl1pPr>
          </a:lstStyle>
          <a:p>
            <a:pPr/>
            <a:r>
              <a:t>Visit Website</a:t>
            </a:r>
          </a:p>
        </p:txBody>
      </p:sp>
      <p:sp>
        <p:nvSpPr>
          <p:cNvPr id="66" name="Text 15"/>
          <p:cNvSpPr txBox="1"/>
          <p:nvPr/>
        </p:nvSpPr>
        <p:spPr>
          <a:xfrm>
            <a:off x="474103" y="2833222"/>
            <a:ext cx="256033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67" name="Shape 16"/>
          <p:cNvSpPr/>
          <p:nvPr/>
        </p:nvSpPr>
        <p:spPr>
          <a:xfrm>
            <a:off x="428383" y="2799886"/>
            <a:ext cx="347473" cy="347473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8" name="Text 17"/>
          <p:cNvSpPr txBox="1"/>
          <p:nvPr/>
        </p:nvSpPr>
        <p:spPr>
          <a:xfrm>
            <a:off x="474103" y="2844521"/>
            <a:ext cx="256033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69" name="Text 18"/>
          <p:cNvSpPr txBox="1"/>
          <p:nvPr/>
        </p:nvSpPr>
        <p:spPr>
          <a:xfrm>
            <a:off x="913015" y="2758791"/>
            <a:ext cx="1042417" cy="4388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1A2744"/>
                </a:solidFill>
              </a:defRPr>
            </a:lvl1pPr>
          </a:lstStyle>
          <a:p>
            <a:pPr/>
            <a:r>
              <a:t>Capture Packets</a:t>
            </a:r>
          </a:p>
        </p:txBody>
      </p:sp>
      <p:sp>
        <p:nvSpPr>
          <p:cNvPr id="70" name="Text 23"/>
          <p:cNvSpPr txBox="1"/>
          <p:nvPr/>
        </p:nvSpPr>
        <p:spPr>
          <a:xfrm>
            <a:off x="2537322" y="1179451"/>
            <a:ext cx="256033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71" name="Shape 24"/>
          <p:cNvSpPr/>
          <p:nvPr/>
        </p:nvSpPr>
        <p:spPr>
          <a:xfrm>
            <a:off x="2491602" y="1146115"/>
            <a:ext cx="347473" cy="347473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2" name="Text 25"/>
          <p:cNvSpPr txBox="1"/>
          <p:nvPr/>
        </p:nvSpPr>
        <p:spPr>
          <a:xfrm>
            <a:off x="2537322" y="1190750"/>
            <a:ext cx="256033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73" name="Text 26"/>
          <p:cNvSpPr txBox="1"/>
          <p:nvPr/>
        </p:nvSpPr>
        <p:spPr>
          <a:xfrm>
            <a:off x="2976234" y="1200270"/>
            <a:ext cx="1042417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1A2744"/>
                </a:solidFill>
              </a:defRPr>
            </a:lvl1pPr>
          </a:lstStyle>
          <a:p>
            <a:pPr/>
            <a:r>
              <a:t>Export File</a:t>
            </a:r>
          </a:p>
        </p:txBody>
      </p:sp>
      <p:sp>
        <p:nvSpPr>
          <p:cNvPr id="74" name="Text 31"/>
          <p:cNvSpPr txBox="1"/>
          <p:nvPr/>
        </p:nvSpPr>
        <p:spPr>
          <a:xfrm>
            <a:off x="2537322" y="2833221"/>
            <a:ext cx="256033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75" name="Shape 32"/>
          <p:cNvSpPr/>
          <p:nvPr/>
        </p:nvSpPr>
        <p:spPr>
          <a:xfrm>
            <a:off x="2491602" y="2799884"/>
            <a:ext cx="347473" cy="347473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6" name="Text 33"/>
          <p:cNvSpPr txBox="1"/>
          <p:nvPr/>
        </p:nvSpPr>
        <p:spPr>
          <a:xfrm>
            <a:off x="2537322" y="2844520"/>
            <a:ext cx="256033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77" name="Text 34"/>
          <p:cNvSpPr txBox="1"/>
          <p:nvPr/>
        </p:nvSpPr>
        <p:spPr>
          <a:xfrm>
            <a:off x="2976234" y="2758790"/>
            <a:ext cx="1042417" cy="4388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1A2744"/>
                </a:solidFill>
              </a:defRPr>
            </a:lvl1pPr>
          </a:lstStyle>
          <a:p>
            <a:pPr/>
            <a:r>
              <a:t>Label &amp; Repeat</a:t>
            </a:r>
          </a:p>
        </p:txBody>
      </p:sp>
      <p:sp>
        <p:nvSpPr>
          <p:cNvPr id="78" name="Text 35"/>
          <p:cNvSpPr txBox="1"/>
          <p:nvPr/>
        </p:nvSpPr>
        <p:spPr>
          <a:xfrm>
            <a:off x="2537322" y="3392908"/>
            <a:ext cx="1481329" cy="4415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35000"/>
              </a:lnSpc>
              <a:defRPr sz="1000">
                <a:solidFill>
                  <a:srgbClr val="64748B"/>
                </a:solidFill>
              </a:defRPr>
            </a:lvl1pPr>
          </a:lstStyle>
          <a:p>
            <a:pPr/>
            <a:r>
              <a:t>11 websites, 220 sessions total</a:t>
            </a:r>
          </a:p>
        </p:txBody>
      </p:sp>
      <p:sp>
        <p:nvSpPr>
          <p:cNvPr id="79" name="Text 36"/>
          <p:cNvSpPr txBox="1"/>
          <p:nvPr/>
        </p:nvSpPr>
        <p:spPr>
          <a:xfrm>
            <a:off x="4897583" y="782044"/>
            <a:ext cx="374904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100">
                <a:solidFill>
                  <a:srgbClr val="1A2744"/>
                </a:solidFill>
              </a:defRPr>
            </a:lvl1pPr>
          </a:lstStyle>
          <a:p>
            <a:pPr/>
            <a:r>
              <a:t>Dataset Summary</a:t>
            </a:r>
          </a:p>
        </p:txBody>
      </p:sp>
      <p:graphicFrame>
        <p:nvGraphicFramePr>
          <p:cNvPr id="80" name="Table 0"/>
          <p:cNvGraphicFramePr/>
          <p:nvPr/>
        </p:nvGraphicFramePr>
        <p:xfrm>
          <a:off x="5245332" y="1127536"/>
          <a:ext cx="3053543" cy="2265885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035694"/>
                <a:gridCol w="1017847"/>
              </a:tblGrid>
              <a:tr h="17935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FFFFFF"/>
                          </a:solidFill>
                        </a:rPr>
                        <a:t>Website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FFFFFF"/>
                          </a:solidFill>
                        </a:rPr>
                        <a:t>Sessions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1A2744"/>
                    </a:solidFill>
                  </a:tcPr>
                </a:tc>
              </a:tr>
              <a:tr h="17337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1A2744"/>
                          </a:solidFill>
                        </a:rPr>
                        <a:t>Amazon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1A2744"/>
                          </a:solidFill>
                        </a:rPr>
                        <a:t>20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37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1A2744"/>
                          </a:solidFill>
                        </a:rPr>
                        <a:t>Bose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1A2744"/>
                          </a:solidFill>
                        </a:rPr>
                        <a:t>20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F0F9FF"/>
                    </a:solidFill>
                  </a:tcPr>
                </a:tc>
              </a:tr>
              <a:tr h="17337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1A2744"/>
                          </a:solidFill>
                        </a:rPr>
                        <a:t>GitHub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1A2744"/>
                          </a:solidFill>
                        </a:rPr>
                        <a:t>20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37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1A2744"/>
                          </a:solidFill>
                        </a:rPr>
                        <a:t>Handshake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1A2744"/>
                          </a:solidFill>
                        </a:rPr>
                        <a:t>20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F0F9FF"/>
                    </a:solidFill>
                  </a:tcPr>
                </a:tc>
              </a:tr>
              <a:tr h="17337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1A2744"/>
                          </a:solidFill>
                        </a:rPr>
                        <a:t>Indeed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1A2744"/>
                          </a:solidFill>
                        </a:rPr>
                        <a:t>20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37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1A2744"/>
                          </a:solidFill>
                        </a:rPr>
                        <a:t>LinkedIn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1A2744"/>
                          </a:solidFill>
                        </a:rPr>
                        <a:t>20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F0F9FF"/>
                    </a:solidFill>
                  </a:tcPr>
                </a:tc>
              </a:tr>
              <a:tr h="17337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1A2744"/>
                          </a:solidFill>
                        </a:rPr>
                        <a:t>NYT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1A2744"/>
                          </a:solidFill>
                        </a:rPr>
                        <a:t>20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37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1A2744"/>
                          </a:solidFill>
                        </a:rPr>
                        <a:t>Tetris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1A2744"/>
                          </a:solidFill>
                        </a:rPr>
                        <a:t>20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F0F9FF"/>
                    </a:solidFill>
                  </a:tcPr>
                </a:tc>
              </a:tr>
              <a:tr h="17337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1A2744"/>
                          </a:solidFill>
                        </a:rPr>
                        <a:t>Tribecareers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1A2744"/>
                          </a:solidFill>
                        </a:rPr>
                        <a:t>20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37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1A2744"/>
                          </a:solidFill>
                        </a:rPr>
                        <a:t>Wash. Post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1A2744"/>
                          </a:solidFill>
                        </a:rPr>
                        <a:t>20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F0F9FF"/>
                    </a:solidFill>
                  </a:tcPr>
                </a:tc>
              </a:tr>
              <a:tr h="17337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1A2744"/>
                          </a:solidFill>
                        </a:rPr>
                        <a:t>YouTube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1A2744"/>
                          </a:solidFill>
                        </a:rPr>
                        <a:t>20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935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0D9488"/>
                          </a:solidFill>
                        </a:rPr>
                        <a:t>Total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EFF9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0D9488"/>
                          </a:solidFill>
                        </a:rPr>
                        <a:t>220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EF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3" name="Text 1"/>
          <p:cNvSpPr txBox="1"/>
          <p:nvPr/>
        </p:nvSpPr>
        <p:spPr>
          <a:xfrm>
            <a:off x="338328" y="217459"/>
            <a:ext cx="3566161" cy="1960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800">
                <a:solidFill>
                  <a:srgbClr val="0D9488"/>
                </a:solidFill>
              </a:defRPr>
            </a:lvl1pPr>
          </a:lstStyle>
          <a:p>
            <a:pPr/>
            <a:r>
              <a:t>PROPOSED METHOD</a:t>
            </a:r>
          </a:p>
        </p:txBody>
      </p:sp>
      <p:sp>
        <p:nvSpPr>
          <p:cNvPr id="84" name="Text 2"/>
          <p:cNvSpPr txBox="1"/>
          <p:nvPr/>
        </p:nvSpPr>
        <p:spPr>
          <a:xfrm>
            <a:off x="338328" y="581268"/>
            <a:ext cx="8503920" cy="4376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600">
                <a:solidFill>
                  <a:srgbClr val="1A2744"/>
                </a:solidFill>
              </a:defRPr>
            </a:lvl1pPr>
          </a:lstStyle>
          <a:p>
            <a:pPr/>
            <a:r>
              <a:t>Features</a:t>
            </a:r>
          </a:p>
        </p:txBody>
      </p:sp>
      <p:sp>
        <p:nvSpPr>
          <p:cNvPr id="85" name="Text 4"/>
          <p:cNvSpPr txBox="1"/>
          <p:nvPr/>
        </p:nvSpPr>
        <p:spPr>
          <a:xfrm>
            <a:off x="8092439" y="4697643"/>
            <a:ext cx="8229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4748B"/>
                </a:solidFill>
              </a:defRPr>
            </a:lvl1pPr>
          </a:lstStyle>
          <a:p>
            <a:pPr/>
            <a:r>
              <a:t>4 / 9</a:t>
            </a:r>
          </a:p>
        </p:txBody>
      </p:sp>
      <p:sp>
        <p:nvSpPr>
          <p:cNvPr id="86" name="Text 5"/>
          <p:cNvSpPr txBox="1"/>
          <p:nvPr/>
        </p:nvSpPr>
        <p:spPr>
          <a:xfrm>
            <a:off x="338328" y="1322754"/>
            <a:ext cx="8467344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100">
                <a:solidFill>
                  <a:srgbClr val="64748B"/>
                </a:solidFill>
              </a:defRPr>
            </a:lvl1pPr>
          </a:lstStyle>
          <a:p>
            <a:pPr/>
            <a:r>
              <a:t>Raw pcap files can't be used directly, we extracted 9 numeric features from each browsing session.</a:t>
            </a:r>
          </a:p>
        </p:txBody>
      </p:sp>
      <p:sp>
        <p:nvSpPr>
          <p:cNvPr id="87" name="Shape 6"/>
          <p:cNvSpPr/>
          <p:nvPr/>
        </p:nvSpPr>
        <p:spPr>
          <a:xfrm>
            <a:off x="292607" y="1691639"/>
            <a:ext cx="2651762" cy="621793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8" name="Text 7"/>
          <p:cNvSpPr txBox="1"/>
          <p:nvPr/>
        </p:nvSpPr>
        <p:spPr>
          <a:xfrm>
            <a:off x="338327" y="1888280"/>
            <a:ext cx="2560322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</a:defRPr>
            </a:lvl1pPr>
          </a:lstStyle>
          <a:p>
            <a:pPr/>
            <a:r>
              <a:t>Wireshark .pcapng</a:t>
            </a:r>
          </a:p>
        </p:txBody>
      </p:sp>
      <p:sp>
        <p:nvSpPr>
          <p:cNvPr id="89" name="Shape 8"/>
          <p:cNvSpPr/>
          <p:nvPr/>
        </p:nvSpPr>
        <p:spPr>
          <a:xfrm>
            <a:off x="2944367" y="2002535"/>
            <a:ext cx="292609" cy="1"/>
          </a:xfrm>
          <a:prstGeom prst="line">
            <a:avLst/>
          </a:prstGeom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0" name="Shape 9"/>
          <p:cNvSpPr/>
          <p:nvPr/>
        </p:nvSpPr>
        <p:spPr>
          <a:xfrm>
            <a:off x="3236976" y="1691639"/>
            <a:ext cx="2651761" cy="621793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1" name="Text 10"/>
          <p:cNvSpPr txBox="1"/>
          <p:nvPr/>
        </p:nvSpPr>
        <p:spPr>
          <a:xfrm>
            <a:off x="3282696" y="1805730"/>
            <a:ext cx="2560321" cy="3936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Feature Extraction</a:t>
            </a:r>
          </a:p>
          <a:p>
            <a:pPr algn="ctr">
              <a:defRPr b="1" sz="1000">
                <a:solidFill>
                  <a:srgbClr val="FFFFFF"/>
                </a:solidFill>
              </a:defRPr>
            </a:pPr>
            <a:r>
              <a:t>(Python)</a:t>
            </a:r>
          </a:p>
        </p:txBody>
      </p:sp>
      <p:sp>
        <p:nvSpPr>
          <p:cNvPr id="92" name="Shape 11"/>
          <p:cNvSpPr/>
          <p:nvPr/>
        </p:nvSpPr>
        <p:spPr>
          <a:xfrm>
            <a:off x="5888735" y="2002535"/>
            <a:ext cx="292609" cy="1"/>
          </a:xfrm>
          <a:prstGeom prst="line">
            <a:avLst/>
          </a:prstGeom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3" name="Shape 12"/>
          <p:cNvSpPr/>
          <p:nvPr/>
        </p:nvSpPr>
        <p:spPr>
          <a:xfrm>
            <a:off x="6181343" y="1691639"/>
            <a:ext cx="2651762" cy="621793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4" name="Text 13"/>
          <p:cNvSpPr txBox="1"/>
          <p:nvPr/>
        </p:nvSpPr>
        <p:spPr>
          <a:xfrm>
            <a:off x="6227063" y="1805730"/>
            <a:ext cx="2560322" cy="3936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Dataset CSV</a:t>
            </a:r>
          </a:p>
          <a:p>
            <a:pPr algn="ctr">
              <a:defRPr b="1" sz="1000">
                <a:solidFill>
                  <a:srgbClr val="FFFFFF"/>
                </a:solidFill>
              </a:defRPr>
            </a:pPr>
            <a:r>
              <a:t>(220 rows, each with 9 features and 1 label)</a:t>
            </a:r>
          </a:p>
        </p:txBody>
      </p:sp>
      <p:sp>
        <p:nvSpPr>
          <p:cNvPr id="95" name="Shape 14"/>
          <p:cNvSpPr/>
          <p:nvPr/>
        </p:nvSpPr>
        <p:spPr>
          <a:xfrm>
            <a:off x="292607" y="2487167"/>
            <a:ext cx="269748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6" name="Shape 15"/>
          <p:cNvSpPr/>
          <p:nvPr/>
        </p:nvSpPr>
        <p:spPr>
          <a:xfrm>
            <a:off x="292608" y="2487167"/>
            <a:ext cx="64009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7" name="Text 16"/>
          <p:cNvSpPr txBox="1"/>
          <p:nvPr/>
        </p:nvSpPr>
        <p:spPr>
          <a:xfrm>
            <a:off x="521207" y="2612057"/>
            <a:ext cx="2377442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100">
                <a:solidFill>
                  <a:srgbClr val="1A2744"/>
                </a:solidFill>
              </a:defRPr>
            </a:lvl1pPr>
          </a:lstStyle>
          <a:p>
            <a:pPr/>
            <a:r>
              <a:t>Packet Count</a:t>
            </a:r>
          </a:p>
        </p:txBody>
      </p:sp>
      <p:sp>
        <p:nvSpPr>
          <p:cNvPr id="98" name="Shape 17"/>
          <p:cNvSpPr/>
          <p:nvPr/>
        </p:nvSpPr>
        <p:spPr>
          <a:xfrm>
            <a:off x="3200399" y="2487167"/>
            <a:ext cx="269748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9" name="Shape 18"/>
          <p:cNvSpPr/>
          <p:nvPr/>
        </p:nvSpPr>
        <p:spPr>
          <a:xfrm>
            <a:off x="3200400" y="2487167"/>
            <a:ext cx="6400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0" name="Text 19"/>
          <p:cNvSpPr txBox="1"/>
          <p:nvPr/>
        </p:nvSpPr>
        <p:spPr>
          <a:xfrm>
            <a:off x="3428999" y="2612057"/>
            <a:ext cx="237744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100">
                <a:solidFill>
                  <a:srgbClr val="1A2744"/>
                </a:solidFill>
              </a:defRPr>
            </a:lvl1pPr>
          </a:lstStyle>
          <a:p>
            <a:pPr/>
            <a:r>
              <a:t>Total Length</a:t>
            </a:r>
          </a:p>
        </p:txBody>
      </p:sp>
      <p:sp>
        <p:nvSpPr>
          <p:cNvPr id="101" name="Shape 20"/>
          <p:cNvSpPr/>
          <p:nvPr/>
        </p:nvSpPr>
        <p:spPr>
          <a:xfrm>
            <a:off x="6108191" y="2487167"/>
            <a:ext cx="2697481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2" name="Shape 21"/>
          <p:cNvSpPr/>
          <p:nvPr/>
        </p:nvSpPr>
        <p:spPr>
          <a:xfrm>
            <a:off x="6108191" y="2487167"/>
            <a:ext cx="64009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3" name="Text 22"/>
          <p:cNvSpPr txBox="1"/>
          <p:nvPr/>
        </p:nvSpPr>
        <p:spPr>
          <a:xfrm>
            <a:off x="6336791" y="2612057"/>
            <a:ext cx="237744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100">
                <a:solidFill>
                  <a:srgbClr val="1A2744"/>
                </a:solidFill>
              </a:defRPr>
            </a:lvl1pPr>
          </a:lstStyle>
          <a:p>
            <a:pPr/>
            <a:r>
              <a:t>Avg Packet Interval</a:t>
            </a:r>
          </a:p>
        </p:txBody>
      </p:sp>
      <p:sp>
        <p:nvSpPr>
          <p:cNvPr id="104" name="Shape 23"/>
          <p:cNvSpPr/>
          <p:nvPr/>
        </p:nvSpPr>
        <p:spPr>
          <a:xfrm>
            <a:off x="292607" y="3127248"/>
            <a:ext cx="269748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5" name="Shape 24"/>
          <p:cNvSpPr/>
          <p:nvPr/>
        </p:nvSpPr>
        <p:spPr>
          <a:xfrm>
            <a:off x="292608" y="3127248"/>
            <a:ext cx="64009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6" name="Text 25"/>
          <p:cNvSpPr txBox="1"/>
          <p:nvPr/>
        </p:nvSpPr>
        <p:spPr>
          <a:xfrm>
            <a:off x="521207" y="3252137"/>
            <a:ext cx="2377442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100">
                <a:solidFill>
                  <a:srgbClr val="1A2744"/>
                </a:solidFill>
              </a:defRPr>
            </a:lvl1pPr>
          </a:lstStyle>
          <a:p>
            <a:pPr/>
            <a:r>
              <a:t>Max Packet Interval</a:t>
            </a:r>
          </a:p>
        </p:txBody>
      </p:sp>
      <p:sp>
        <p:nvSpPr>
          <p:cNvPr id="107" name="Shape 26"/>
          <p:cNvSpPr/>
          <p:nvPr/>
        </p:nvSpPr>
        <p:spPr>
          <a:xfrm>
            <a:off x="3200399" y="3127248"/>
            <a:ext cx="269748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8" name="Shape 27"/>
          <p:cNvSpPr/>
          <p:nvPr/>
        </p:nvSpPr>
        <p:spPr>
          <a:xfrm>
            <a:off x="3200400" y="3127248"/>
            <a:ext cx="6400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9" name="Text 28"/>
          <p:cNvSpPr txBox="1"/>
          <p:nvPr/>
        </p:nvSpPr>
        <p:spPr>
          <a:xfrm>
            <a:off x="3428999" y="3252137"/>
            <a:ext cx="237744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100">
                <a:solidFill>
                  <a:srgbClr val="1A2744"/>
                </a:solidFill>
              </a:defRPr>
            </a:lvl1pPr>
          </a:lstStyle>
          <a:p>
            <a:pPr/>
            <a:r>
              <a:t>Min Packet Interval</a:t>
            </a:r>
          </a:p>
        </p:txBody>
      </p:sp>
      <p:sp>
        <p:nvSpPr>
          <p:cNvPr id="110" name="Shape 29"/>
          <p:cNvSpPr/>
          <p:nvPr/>
        </p:nvSpPr>
        <p:spPr>
          <a:xfrm>
            <a:off x="6108191" y="3127248"/>
            <a:ext cx="2697481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1" name="Shape 30"/>
          <p:cNvSpPr/>
          <p:nvPr/>
        </p:nvSpPr>
        <p:spPr>
          <a:xfrm>
            <a:off x="6108191" y="3127248"/>
            <a:ext cx="64009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2" name="Text 31"/>
          <p:cNvSpPr txBox="1"/>
          <p:nvPr/>
        </p:nvSpPr>
        <p:spPr>
          <a:xfrm>
            <a:off x="6336791" y="3252137"/>
            <a:ext cx="237744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100">
                <a:solidFill>
                  <a:srgbClr val="1A2744"/>
                </a:solidFill>
              </a:defRPr>
            </a:lvl1pPr>
          </a:lstStyle>
          <a:p>
            <a:pPr/>
            <a:r>
              <a:t>Avg Packet Length</a:t>
            </a:r>
          </a:p>
        </p:txBody>
      </p:sp>
      <p:sp>
        <p:nvSpPr>
          <p:cNvPr id="113" name="Shape 32"/>
          <p:cNvSpPr/>
          <p:nvPr/>
        </p:nvSpPr>
        <p:spPr>
          <a:xfrm>
            <a:off x="292607" y="3767328"/>
            <a:ext cx="269748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4" name="Shape 33"/>
          <p:cNvSpPr/>
          <p:nvPr/>
        </p:nvSpPr>
        <p:spPr>
          <a:xfrm>
            <a:off x="292608" y="3767328"/>
            <a:ext cx="64009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5" name="Text 34"/>
          <p:cNvSpPr txBox="1"/>
          <p:nvPr/>
        </p:nvSpPr>
        <p:spPr>
          <a:xfrm>
            <a:off x="521207" y="3892217"/>
            <a:ext cx="2377442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100">
                <a:solidFill>
                  <a:srgbClr val="1A2744"/>
                </a:solidFill>
              </a:defRPr>
            </a:lvl1pPr>
          </a:lstStyle>
          <a:p>
            <a:pPr/>
            <a:r>
              <a:t>Max Packet Length</a:t>
            </a:r>
          </a:p>
        </p:txBody>
      </p:sp>
      <p:sp>
        <p:nvSpPr>
          <p:cNvPr id="116" name="Shape 35"/>
          <p:cNvSpPr/>
          <p:nvPr/>
        </p:nvSpPr>
        <p:spPr>
          <a:xfrm>
            <a:off x="3200399" y="3767328"/>
            <a:ext cx="269748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7" name="Shape 36"/>
          <p:cNvSpPr/>
          <p:nvPr/>
        </p:nvSpPr>
        <p:spPr>
          <a:xfrm>
            <a:off x="3200400" y="3767328"/>
            <a:ext cx="6400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8" name="Text 37"/>
          <p:cNvSpPr txBox="1"/>
          <p:nvPr/>
        </p:nvSpPr>
        <p:spPr>
          <a:xfrm>
            <a:off x="3428999" y="3892217"/>
            <a:ext cx="237744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100">
                <a:solidFill>
                  <a:srgbClr val="1A2744"/>
                </a:solidFill>
              </a:defRPr>
            </a:lvl1pPr>
          </a:lstStyle>
          <a:p>
            <a:pPr/>
            <a:r>
              <a:t>Min Packet Length</a:t>
            </a:r>
          </a:p>
        </p:txBody>
      </p:sp>
      <p:sp>
        <p:nvSpPr>
          <p:cNvPr id="119" name="Shape 38"/>
          <p:cNvSpPr/>
          <p:nvPr/>
        </p:nvSpPr>
        <p:spPr>
          <a:xfrm>
            <a:off x="6108191" y="3767328"/>
            <a:ext cx="2697481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0" name="Shape 39"/>
          <p:cNvSpPr/>
          <p:nvPr/>
        </p:nvSpPr>
        <p:spPr>
          <a:xfrm>
            <a:off x="6108191" y="3767328"/>
            <a:ext cx="64009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1" name="Text 40"/>
          <p:cNvSpPr txBox="1"/>
          <p:nvPr/>
        </p:nvSpPr>
        <p:spPr>
          <a:xfrm>
            <a:off x="6336791" y="3892217"/>
            <a:ext cx="237744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100">
                <a:solidFill>
                  <a:srgbClr val="1A2744"/>
                </a:solidFill>
              </a:defRPr>
            </a:lvl1pPr>
          </a:lstStyle>
          <a:p>
            <a:pPr/>
            <a:r>
              <a:t>Most Common Packet Length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4" name="Text 1"/>
          <p:cNvSpPr txBox="1"/>
          <p:nvPr/>
        </p:nvSpPr>
        <p:spPr>
          <a:xfrm>
            <a:off x="338328" y="217459"/>
            <a:ext cx="3566161" cy="1960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800">
                <a:solidFill>
                  <a:srgbClr val="0D9488"/>
                </a:solidFill>
              </a:defRPr>
            </a:lvl1pPr>
          </a:lstStyle>
          <a:p>
            <a:pPr/>
            <a:r>
              <a:t>PROPOSED METHOD</a:t>
            </a:r>
          </a:p>
        </p:txBody>
      </p:sp>
      <p:sp>
        <p:nvSpPr>
          <p:cNvPr id="125" name="Text 2"/>
          <p:cNvSpPr txBox="1"/>
          <p:nvPr/>
        </p:nvSpPr>
        <p:spPr>
          <a:xfrm>
            <a:off x="338328" y="581268"/>
            <a:ext cx="8503920" cy="4376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600">
                <a:solidFill>
                  <a:srgbClr val="1A2744"/>
                </a:solidFill>
              </a:defRPr>
            </a:lvl1pPr>
          </a:lstStyle>
          <a:p>
            <a:pPr/>
            <a:r>
              <a:t>Models</a:t>
            </a:r>
          </a:p>
        </p:txBody>
      </p:sp>
      <p:sp>
        <p:nvSpPr>
          <p:cNvPr id="126" name="Text 4"/>
          <p:cNvSpPr txBox="1"/>
          <p:nvPr/>
        </p:nvSpPr>
        <p:spPr>
          <a:xfrm>
            <a:off x="8092439" y="4697643"/>
            <a:ext cx="8229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4748B"/>
                </a:solidFill>
              </a:defRPr>
            </a:lvl1pPr>
          </a:lstStyle>
          <a:p>
            <a:pPr/>
            <a:r>
              <a:t>5 / 9</a:t>
            </a:r>
          </a:p>
        </p:txBody>
      </p:sp>
      <p:sp>
        <p:nvSpPr>
          <p:cNvPr id="127" name="Shape 5"/>
          <p:cNvSpPr/>
          <p:nvPr/>
        </p:nvSpPr>
        <p:spPr>
          <a:xfrm>
            <a:off x="292607" y="1298447"/>
            <a:ext cx="5394962" cy="3547872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>
            <a:outerShdw sx="100000" sy="100000" kx="0" ky="0" algn="b" rotWithShape="0" blurRad="76200" dist="12700" dir="8100000">
              <a:srgbClr val="000000">
                <a:alpha val="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28" name="Shape 6"/>
          <p:cNvSpPr/>
          <p:nvPr/>
        </p:nvSpPr>
        <p:spPr>
          <a:xfrm>
            <a:off x="292607" y="1298447"/>
            <a:ext cx="5394962" cy="384049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9" name="Text 7"/>
          <p:cNvSpPr txBox="1"/>
          <p:nvPr/>
        </p:nvSpPr>
        <p:spPr>
          <a:xfrm>
            <a:off x="484631" y="1366319"/>
            <a:ext cx="5029202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Proposed Model - Random Forest</a:t>
            </a:r>
          </a:p>
        </p:txBody>
      </p:sp>
      <p:sp>
        <p:nvSpPr>
          <p:cNvPr id="130" name="Text 8"/>
          <p:cNvSpPr txBox="1"/>
          <p:nvPr/>
        </p:nvSpPr>
        <p:spPr>
          <a:xfrm>
            <a:off x="484631" y="1807386"/>
            <a:ext cx="502920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100">
                <a:solidFill>
                  <a:srgbClr val="1A2744"/>
                </a:solidFill>
              </a:defRPr>
            </a:lvl1pPr>
          </a:lstStyle>
          <a:p>
            <a:pPr/>
            <a:r>
              <a:t>Definition:</a:t>
            </a:r>
          </a:p>
        </p:txBody>
      </p:sp>
      <p:sp>
        <p:nvSpPr>
          <p:cNvPr id="131" name="Text 9"/>
          <p:cNvSpPr txBox="1"/>
          <p:nvPr/>
        </p:nvSpPr>
        <p:spPr>
          <a:xfrm>
            <a:off x="484631" y="2082349"/>
            <a:ext cx="4983482" cy="4347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30000"/>
              </a:lnSpc>
              <a:defRPr sz="1000">
                <a:solidFill>
                  <a:srgbClr val="64748B"/>
                </a:solidFill>
              </a:defRPr>
            </a:lvl1pPr>
          </a:lstStyle>
          <a:p>
            <a:pPr/>
            <a:r>
              <a:t>An ensemble learning method that builds many decision trees during training and combines their votes for the final prediction.</a:t>
            </a:r>
          </a:p>
        </p:txBody>
      </p:sp>
      <p:sp>
        <p:nvSpPr>
          <p:cNvPr id="132" name="Text 10"/>
          <p:cNvSpPr txBox="1"/>
          <p:nvPr/>
        </p:nvSpPr>
        <p:spPr>
          <a:xfrm>
            <a:off x="484631" y="2630346"/>
            <a:ext cx="502920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100">
                <a:solidFill>
                  <a:srgbClr val="1A2744"/>
                </a:solidFill>
              </a:defRPr>
            </a:lvl1pPr>
          </a:lstStyle>
          <a:p>
            <a:pPr/>
            <a:r>
              <a:t>How it works:</a:t>
            </a:r>
          </a:p>
        </p:txBody>
      </p:sp>
      <p:sp>
        <p:nvSpPr>
          <p:cNvPr id="133" name="Text 11"/>
          <p:cNvSpPr txBox="1"/>
          <p:nvPr/>
        </p:nvSpPr>
        <p:spPr>
          <a:xfrm>
            <a:off x="484631" y="3037661"/>
            <a:ext cx="4983482" cy="654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342900" indent="-342900">
              <a:lnSpc>
                <a:spcPct val="135000"/>
              </a:lnSpc>
              <a:buSzPct val="100000"/>
              <a:buChar char="•"/>
              <a:defRPr sz="1000">
                <a:solidFill>
                  <a:srgbClr val="64748B"/>
                </a:solidFill>
              </a:defRPr>
            </a:pPr>
            <a:r>
              <a:t>Bootstrapping: each tree trains on a random sample of the data</a:t>
            </a:r>
          </a:p>
          <a:p>
            <a:pPr marL="342900" indent="-342900">
              <a:lnSpc>
                <a:spcPct val="135000"/>
              </a:lnSpc>
              <a:buSzPct val="100000"/>
              <a:buChar char="•"/>
              <a:defRPr sz="1000">
                <a:solidFill>
                  <a:srgbClr val="64748B"/>
                </a:solidFill>
              </a:defRPr>
            </a:pPr>
            <a:r>
              <a:t>Feature randomness: random subset of features at each split</a:t>
            </a:r>
          </a:p>
          <a:p>
            <a:pPr marL="342900" indent="-342900">
              <a:lnSpc>
                <a:spcPct val="135000"/>
              </a:lnSpc>
              <a:buSzPct val="100000"/>
              <a:buChar char="•"/>
              <a:defRPr sz="1000">
                <a:solidFill>
                  <a:srgbClr val="64748B"/>
                </a:solidFill>
              </a:defRPr>
            </a:pPr>
            <a:r>
              <a:t>Majority voting: the most common class prediction wins</a:t>
            </a:r>
          </a:p>
        </p:txBody>
      </p:sp>
      <p:sp>
        <p:nvSpPr>
          <p:cNvPr id="134" name="Text 12"/>
          <p:cNvSpPr txBox="1"/>
          <p:nvPr/>
        </p:nvSpPr>
        <p:spPr>
          <a:xfrm>
            <a:off x="484631" y="3928794"/>
            <a:ext cx="502920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100">
                <a:solidFill>
                  <a:srgbClr val="1A2744"/>
                </a:solidFill>
              </a:defRPr>
            </a:lvl1pPr>
          </a:lstStyle>
          <a:p>
            <a:pPr/>
            <a:r>
              <a:t>Why we chose it:</a:t>
            </a:r>
          </a:p>
        </p:txBody>
      </p:sp>
      <p:sp>
        <p:nvSpPr>
          <p:cNvPr id="135" name="Text 13"/>
          <p:cNvSpPr txBox="1"/>
          <p:nvPr/>
        </p:nvSpPr>
        <p:spPr>
          <a:xfrm>
            <a:off x="484631" y="4180898"/>
            <a:ext cx="4983482" cy="4347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30000"/>
              </a:lnSpc>
              <a:defRPr sz="1000">
                <a:solidFill>
                  <a:srgbClr val="64748B"/>
                </a:solidFill>
              </a:defRPr>
            </a:lvl1pPr>
          </a:lstStyle>
          <a:p>
            <a:pPr/>
            <a:r>
              <a:t>Handles complex feature interactions, resistant to overfitting, and works well on small datasets.</a:t>
            </a:r>
          </a:p>
        </p:txBody>
      </p:sp>
      <p:sp>
        <p:nvSpPr>
          <p:cNvPr id="136" name="Shape 14"/>
          <p:cNvSpPr/>
          <p:nvPr/>
        </p:nvSpPr>
        <p:spPr>
          <a:xfrm>
            <a:off x="5870447" y="1298447"/>
            <a:ext cx="2980945" cy="35478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" rotWithShape="0" blurRad="50800" dist="12700" dir="8100000">
              <a:srgbClr val="000000">
                <a:alpha val="6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37" name="Shape 15"/>
          <p:cNvSpPr/>
          <p:nvPr/>
        </p:nvSpPr>
        <p:spPr>
          <a:xfrm>
            <a:off x="5870447" y="1298447"/>
            <a:ext cx="2980945" cy="384049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8" name="Text 16"/>
          <p:cNvSpPr txBox="1"/>
          <p:nvPr/>
        </p:nvSpPr>
        <p:spPr>
          <a:xfrm>
            <a:off x="6062472" y="1366319"/>
            <a:ext cx="260604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Baseline Model</a:t>
            </a:r>
          </a:p>
        </p:txBody>
      </p:sp>
      <p:sp>
        <p:nvSpPr>
          <p:cNvPr id="139" name="Text 17"/>
          <p:cNvSpPr txBox="1"/>
          <p:nvPr/>
        </p:nvSpPr>
        <p:spPr>
          <a:xfrm>
            <a:off x="6062472" y="1834818"/>
            <a:ext cx="260604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100">
                <a:solidFill>
                  <a:srgbClr val="1A2744"/>
                </a:solidFill>
              </a:defRPr>
            </a:lvl1pPr>
          </a:lstStyle>
          <a:p>
            <a:pPr/>
            <a:r>
              <a:t>Logistic Regression</a:t>
            </a:r>
          </a:p>
        </p:txBody>
      </p:sp>
      <p:sp>
        <p:nvSpPr>
          <p:cNvPr id="140" name="Text 18"/>
          <p:cNvSpPr txBox="1"/>
          <p:nvPr/>
        </p:nvSpPr>
        <p:spPr>
          <a:xfrm>
            <a:off x="6062472" y="2182452"/>
            <a:ext cx="2606041" cy="8471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30000"/>
              </a:lnSpc>
              <a:defRPr sz="1000">
                <a:solidFill>
                  <a:srgbClr val="64748B"/>
                </a:solidFill>
              </a:defRPr>
            </a:lvl1pPr>
          </a:lstStyle>
          <a:p>
            <a:pPr/>
            <a:r>
              <a:t>Maps features to class probabilities using a logistic function. Simple, interpretable, and widely used as a benchmark for classification tasks.</a:t>
            </a:r>
          </a:p>
        </p:txBody>
      </p:sp>
      <p:sp>
        <p:nvSpPr>
          <p:cNvPr id="141" name="Text 19"/>
          <p:cNvSpPr txBox="1"/>
          <p:nvPr/>
        </p:nvSpPr>
        <p:spPr>
          <a:xfrm>
            <a:off x="338328" y="4830231"/>
            <a:ext cx="8467344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i="1" sz="900">
                <a:solidFill>
                  <a:srgbClr val="64748B"/>
                </a:solidFill>
              </a:defRPr>
            </a:lvl1pPr>
          </a:lstStyle>
          <a:p>
            <a:pPr/>
            <a:r>
              <a:t>Data split: 60% train · 20% validation · 20% test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4" name="Text 1"/>
          <p:cNvSpPr txBox="1"/>
          <p:nvPr/>
        </p:nvSpPr>
        <p:spPr>
          <a:xfrm>
            <a:off x="338328" y="217459"/>
            <a:ext cx="3566161" cy="1960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800">
                <a:solidFill>
                  <a:srgbClr val="0D9488"/>
                </a:solidFill>
              </a:defRPr>
            </a:lvl1pPr>
          </a:lstStyle>
          <a:p>
            <a:pPr/>
            <a:r>
              <a:t>EVALUATION</a:t>
            </a:r>
          </a:p>
        </p:txBody>
      </p:sp>
      <p:sp>
        <p:nvSpPr>
          <p:cNvPr id="145" name="Text 2"/>
          <p:cNvSpPr txBox="1"/>
          <p:nvPr/>
        </p:nvSpPr>
        <p:spPr>
          <a:xfrm>
            <a:off x="338328" y="581268"/>
            <a:ext cx="8503920" cy="4376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600">
                <a:solidFill>
                  <a:srgbClr val="1A2744"/>
                </a:solidFill>
              </a:defRPr>
            </a:lvl1pPr>
          </a:lstStyle>
          <a:p>
            <a:pPr/>
            <a:r>
              <a:t>Results</a:t>
            </a:r>
          </a:p>
        </p:txBody>
      </p:sp>
      <p:sp>
        <p:nvSpPr>
          <p:cNvPr id="146" name="Text 4"/>
          <p:cNvSpPr txBox="1"/>
          <p:nvPr/>
        </p:nvSpPr>
        <p:spPr>
          <a:xfrm>
            <a:off x="8092439" y="4697643"/>
            <a:ext cx="8229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4748B"/>
                </a:solidFill>
              </a:defRPr>
            </a:lvl1pPr>
          </a:lstStyle>
          <a:p>
            <a:pPr/>
            <a:r>
              <a:t>6 / 9</a:t>
            </a:r>
          </a:p>
        </p:txBody>
      </p:sp>
      <p:sp>
        <p:nvSpPr>
          <p:cNvPr id="147" name="Shape 5"/>
          <p:cNvSpPr/>
          <p:nvPr/>
        </p:nvSpPr>
        <p:spPr>
          <a:xfrm>
            <a:off x="292608" y="1298447"/>
            <a:ext cx="2011679" cy="109728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" rotWithShape="0" blurRad="50800" dist="12700" dir="8100000">
              <a:srgbClr val="000000">
                <a:alpha val="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48" name="Shape 6"/>
          <p:cNvSpPr/>
          <p:nvPr/>
        </p:nvSpPr>
        <p:spPr>
          <a:xfrm>
            <a:off x="292608" y="1298447"/>
            <a:ext cx="2011679" cy="54865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9" name="Text 7"/>
          <p:cNvSpPr txBox="1"/>
          <p:nvPr/>
        </p:nvSpPr>
        <p:spPr>
          <a:xfrm>
            <a:off x="475487" y="1492120"/>
            <a:ext cx="164592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2800">
                <a:solidFill>
                  <a:srgbClr val="0D9488"/>
                </a:solidFill>
              </a:defRPr>
            </a:lvl1pPr>
          </a:lstStyle>
          <a:p>
            <a:pPr/>
            <a:r>
              <a:t>0.64</a:t>
            </a:r>
          </a:p>
        </p:txBody>
      </p:sp>
      <p:sp>
        <p:nvSpPr>
          <p:cNvPr id="150" name="Text 8"/>
          <p:cNvSpPr txBox="1"/>
          <p:nvPr/>
        </p:nvSpPr>
        <p:spPr>
          <a:xfrm>
            <a:off x="429767" y="2002580"/>
            <a:ext cx="173736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000">
                <a:solidFill>
                  <a:srgbClr val="64748B"/>
                </a:solidFill>
              </a:defRPr>
            </a:lvl1pPr>
          </a:lstStyle>
          <a:p>
            <a:pPr/>
            <a:r>
              <a:t>Random Forest Accuracy</a:t>
            </a:r>
          </a:p>
        </p:txBody>
      </p:sp>
      <p:sp>
        <p:nvSpPr>
          <p:cNvPr id="151" name="Shape 9"/>
          <p:cNvSpPr/>
          <p:nvPr/>
        </p:nvSpPr>
        <p:spPr>
          <a:xfrm>
            <a:off x="2487167" y="1298447"/>
            <a:ext cx="2011680" cy="109728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" rotWithShape="0" blurRad="50800" dist="12700" dir="8100000">
              <a:srgbClr val="000000">
                <a:alpha val="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52" name="Shape 10"/>
          <p:cNvSpPr/>
          <p:nvPr/>
        </p:nvSpPr>
        <p:spPr>
          <a:xfrm>
            <a:off x="2487167" y="1298447"/>
            <a:ext cx="2011680" cy="54865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3" name="Text 11"/>
          <p:cNvSpPr txBox="1"/>
          <p:nvPr/>
        </p:nvSpPr>
        <p:spPr>
          <a:xfrm>
            <a:off x="2670047" y="1492120"/>
            <a:ext cx="164592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2800">
                <a:solidFill>
                  <a:srgbClr val="1A2744"/>
                </a:solidFill>
              </a:defRPr>
            </a:lvl1pPr>
          </a:lstStyle>
          <a:p>
            <a:pPr/>
            <a:r>
              <a:t>0.62</a:t>
            </a:r>
          </a:p>
        </p:txBody>
      </p:sp>
      <p:sp>
        <p:nvSpPr>
          <p:cNvPr id="154" name="Text 12"/>
          <p:cNvSpPr txBox="1"/>
          <p:nvPr/>
        </p:nvSpPr>
        <p:spPr>
          <a:xfrm>
            <a:off x="2624327" y="2002580"/>
            <a:ext cx="173736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000">
                <a:solidFill>
                  <a:srgbClr val="64748B"/>
                </a:solidFill>
              </a:defRPr>
            </a:lvl1pPr>
          </a:lstStyle>
          <a:p>
            <a:pPr/>
            <a:r>
              <a:t>Random Forest Macro F1</a:t>
            </a:r>
          </a:p>
        </p:txBody>
      </p:sp>
      <p:sp>
        <p:nvSpPr>
          <p:cNvPr id="155" name="Shape 13"/>
          <p:cNvSpPr/>
          <p:nvPr/>
        </p:nvSpPr>
        <p:spPr>
          <a:xfrm>
            <a:off x="4681728" y="1298447"/>
            <a:ext cx="2011680" cy="109728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" rotWithShape="0" blurRad="50800" dist="12700" dir="8100000">
              <a:srgbClr val="000000">
                <a:alpha val="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56" name="Shape 14"/>
          <p:cNvSpPr/>
          <p:nvPr/>
        </p:nvSpPr>
        <p:spPr>
          <a:xfrm>
            <a:off x="4681728" y="1298447"/>
            <a:ext cx="2011680" cy="54865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7" name="Text 15"/>
          <p:cNvSpPr txBox="1"/>
          <p:nvPr/>
        </p:nvSpPr>
        <p:spPr>
          <a:xfrm>
            <a:off x="4864608" y="1492120"/>
            <a:ext cx="1645921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2800">
                <a:solidFill>
                  <a:srgbClr val="64748B"/>
                </a:solidFill>
              </a:defRPr>
            </a:lvl1pPr>
          </a:lstStyle>
          <a:p>
            <a:pPr/>
            <a:r>
              <a:t>0.32</a:t>
            </a:r>
          </a:p>
        </p:txBody>
      </p:sp>
      <p:sp>
        <p:nvSpPr>
          <p:cNvPr id="158" name="Text 16"/>
          <p:cNvSpPr txBox="1"/>
          <p:nvPr/>
        </p:nvSpPr>
        <p:spPr>
          <a:xfrm>
            <a:off x="4818887" y="2002580"/>
            <a:ext cx="173736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000">
                <a:solidFill>
                  <a:srgbClr val="64748B"/>
                </a:solidFill>
              </a:defRPr>
            </a:lvl1pPr>
          </a:lstStyle>
          <a:p>
            <a:pPr/>
            <a:r>
              <a:t>Logistic Reg. Accuracy</a:t>
            </a:r>
          </a:p>
        </p:txBody>
      </p:sp>
      <p:sp>
        <p:nvSpPr>
          <p:cNvPr id="159" name="Shape 17"/>
          <p:cNvSpPr/>
          <p:nvPr/>
        </p:nvSpPr>
        <p:spPr>
          <a:xfrm>
            <a:off x="6876288" y="1298447"/>
            <a:ext cx="1975105" cy="109728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" rotWithShape="0" blurRad="50800" dist="12700" dir="8100000">
              <a:srgbClr val="000000">
                <a:alpha val="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60" name="Shape 18"/>
          <p:cNvSpPr/>
          <p:nvPr/>
        </p:nvSpPr>
        <p:spPr>
          <a:xfrm>
            <a:off x="6876288" y="1298447"/>
            <a:ext cx="1975105" cy="54865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1" name="Text 19"/>
          <p:cNvSpPr txBox="1"/>
          <p:nvPr/>
        </p:nvSpPr>
        <p:spPr>
          <a:xfrm>
            <a:off x="7059167" y="1492120"/>
            <a:ext cx="1609345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2800">
                <a:solidFill>
                  <a:srgbClr val="64748B"/>
                </a:solidFill>
              </a:defRPr>
            </a:lvl1pPr>
          </a:lstStyle>
          <a:p>
            <a:pPr/>
            <a:r>
              <a:t>0.29</a:t>
            </a:r>
          </a:p>
        </p:txBody>
      </p:sp>
      <p:sp>
        <p:nvSpPr>
          <p:cNvPr id="162" name="Text 20"/>
          <p:cNvSpPr txBox="1"/>
          <p:nvPr/>
        </p:nvSpPr>
        <p:spPr>
          <a:xfrm>
            <a:off x="7013448" y="2002580"/>
            <a:ext cx="1700785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000">
                <a:solidFill>
                  <a:srgbClr val="64748B"/>
                </a:solidFill>
              </a:defRPr>
            </a:lvl1pPr>
          </a:lstStyle>
          <a:p>
            <a:pPr/>
            <a:r>
              <a:t>Logistic Reg. Macro F1</a:t>
            </a:r>
          </a:p>
        </p:txBody>
      </p:sp>
      <p:sp>
        <p:nvSpPr>
          <p:cNvPr id="163" name="Text 21"/>
          <p:cNvSpPr txBox="1"/>
          <p:nvPr/>
        </p:nvSpPr>
        <p:spPr>
          <a:xfrm>
            <a:off x="338328" y="2602914"/>
            <a:ext cx="448056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100">
                <a:solidFill>
                  <a:srgbClr val="1A2744"/>
                </a:solidFill>
              </a:defRPr>
            </a:lvl1pPr>
          </a:lstStyle>
          <a:p>
            <a:pPr/>
            <a:r>
              <a:t>Model Comparison</a:t>
            </a:r>
          </a:p>
        </p:txBody>
      </p:sp>
      <p:graphicFrame>
        <p:nvGraphicFramePr>
          <p:cNvPr id="164" name="Table 0"/>
          <p:cNvGraphicFramePr/>
          <p:nvPr/>
        </p:nvGraphicFramePr>
        <p:xfrm>
          <a:off x="292608" y="2907792"/>
          <a:ext cx="5486401" cy="96012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3200400"/>
                <a:gridCol w="1143000"/>
                <a:gridCol w="1143000"/>
              </a:tblGrid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Accuracy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Macro F1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/>
                        <a:t>Logistic Regression (baseline)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/>
                        <a:t>0.32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/>
                        <a:t>0.29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0D9488"/>
                          </a:solidFill>
                        </a:rPr>
                        <a:t>Random Forest (proposed)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0D9488"/>
                          </a:solidFill>
                        </a:rPr>
                        <a:t>0.64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0D9488"/>
                          </a:solidFill>
                        </a:rPr>
                        <a:t>0.62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5" name="Shape 22"/>
          <p:cNvSpPr/>
          <p:nvPr/>
        </p:nvSpPr>
        <p:spPr>
          <a:xfrm>
            <a:off x="6053328" y="2578607"/>
            <a:ext cx="2798065" cy="1554481"/>
          </a:xfrm>
          <a:prstGeom prst="rect">
            <a:avLst/>
          </a:prstGeom>
          <a:solidFill>
            <a:srgbClr val="CCFBF1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6" name="Text 23"/>
          <p:cNvSpPr txBox="1"/>
          <p:nvPr/>
        </p:nvSpPr>
        <p:spPr>
          <a:xfrm>
            <a:off x="6245352" y="2665520"/>
            <a:ext cx="2414017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000">
                <a:solidFill>
                  <a:srgbClr val="0F766E"/>
                </a:solidFill>
              </a:defRPr>
            </a:lvl1pPr>
          </a:lstStyle>
          <a:p>
            <a:pPr/>
            <a:r>
              <a:t>Key Finding</a:t>
            </a:r>
          </a:p>
        </p:txBody>
      </p:sp>
      <p:sp>
        <p:nvSpPr>
          <p:cNvPr id="167" name="Text 24"/>
          <p:cNvSpPr txBox="1"/>
          <p:nvPr/>
        </p:nvSpPr>
        <p:spPr>
          <a:xfrm>
            <a:off x="6245352" y="3059140"/>
            <a:ext cx="2414017" cy="8677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35000"/>
              </a:lnSpc>
              <a:defRPr sz="1000">
                <a:solidFill>
                  <a:srgbClr val="134E4A"/>
                </a:solidFill>
              </a:defRPr>
            </a:lvl1pPr>
          </a:lstStyle>
          <a:p>
            <a:pPr/>
            <a:r>
              <a:t>Random Forest outperformed the baseline in both accuracy (+32%) and Macro F1 (+33%), showing it better captures the complex patterns that distinguish website traffic.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sidebar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0" name="label"/>
          <p:cNvSpPr txBox="1"/>
          <p:nvPr/>
        </p:nvSpPr>
        <p:spPr>
          <a:xfrm>
            <a:off x="228599" y="103159"/>
            <a:ext cx="3566161" cy="1960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800">
                <a:solidFill>
                  <a:srgbClr val="0D9488"/>
                </a:solidFill>
              </a:defRPr>
            </a:lvl1pPr>
          </a:lstStyle>
          <a:p>
            <a:pPr/>
            <a:r>
              <a:t>EVALUATION</a:t>
            </a:r>
          </a:p>
        </p:txBody>
      </p:sp>
      <p:sp>
        <p:nvSpPr>
          <p:cNvPr id="171" name="title"/>
          <p:cNvSpPr txBox="1"/>
          <p:nvPr/>
        </p:nvSpPr>
        <p:spPr>
          <a:xfrm>
            <a:off x="228600" y="232671"/>
            <a:ext cx="8503920" cy="4376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600">
                <a:solidFill>
                  <a:srgbClr val="FFFFFF"/>
                </a:solidFill>
              </a:defRPr>
            </a:lvl1pPr>
          </a:lstStyle>
          <a:p>
            <a:pPr/>
            <a:r>
              <a:t>Confusion Matrices</a:t>
            </a:r>
          </a:p>
        </p:txBody>
      </p:sp>
      <p:sp>
        <p:nvSpPr>
          <p:cNvPr id="172" name="pagenum"/>
          <p:cNvSpPr txBox="1"/>
          <p:nvPr/>
        </p:nvSpPr>
        <p:spPr>
          <a:xfrm>
            <a:off x="8092439" y="226227"/>
            <a:ext cx="8229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4748B"/>
                </a:solidFill>
              </a:defRPr>
            </a:lvl1pPr>
          </a:lstStyle>
          <a:p>
            <a:pPr/>
            <a:r>
              <a:t>7 / 9</a:t>
            </a:r>
          </a:p>
        </p:txBody>
      </p:sp>
      <p:pic>
        <p:nvPicPr>
          <p:cNvPr id="173" name="confusion_matrices.png" descr="confusion_matrices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31219" y="678015"/>
            <a:ext cx="8827002" cy="410285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sidebar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6" name="label"/>
          <p:cNvSpPr txBox="1"/>
          <p:nvPr/>
        </p:nvSpPr>
        <p:spPr>
          <a:xfrm>
            <a:off x="338328" y="322615"/>
            <a:ext cx="7661952" cy="1960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800">
                <a:solidFill>
                  <a:srgbClr val="0D9488"/>
                </a:solidFill>
              </a:defRPr>
            </a:lvl1pPr>
          </a:lstStyle>
          <a:p>
            <a:pPr/>
            <a:r>
              <a:t>DISCUSSION &amp; LIMITATIONS</a:t>
            </a:r>
          </a:p>
        </p:txBody>
      </p:sp>
      <p:sp>
        <p:nvSpPr>
          <p:cNvPr id="177" name="pagenum"/>
          <p:cNvSpPr txBox="1"/>
          <p:nvPr/>
        </p:nvSpPr>
        <p:spPr>
          <a:xfrm>
            <a:off x="8092439" y="317667"/>
            <a:ext cx="8229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4748B"/>
                </a:solidFill>
              </a:defRPr>
            </a:lvl1pPr>
          </a:lstStyle>
          <a:p>
            <a:pPr/>
            <a:r>
              <a:t>8 / 9</a:t>
            </a:r>
          </a:p>
        </p:txBody>
      </p:sp>
      <p:sp>
        <p:nvSpPr>
          <p:cNvPr id="178" name="panel"/>
          <p:cNvSpPr/>
          <p:nvPr/>
        </p:nvSpPr>
        <p:spPr>
          <a:xfrm>
            <a:off x="292608" y="658368"/>
            <a:ext cx="8669185" cy="4300000"/>
          </a:xfrm>
          <a:prstGeom prst="rect">
            <a:avLst/>
          </a:prstGeom>
          <a:solidFill>
            <a:srgbClr val="1E3560"/>
          </a:solidFill>
          <a:ln w="12700">
            <a:solidFill>
              <a:srgbClr val="1E356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9" name="kf_hdr"/>
          <p:cNvSpPr txBox="1"/>
          <p:nvPr/>
        </p:nvSpPr>
        <p:spPr>
          <a:xfrm>
            <a:off x="521208" y="824600"/>
            <a:ext cx="8258559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0D9488"/>
                </a:solidFill>
              </a:defRPr>
            </a:lvl1pPr>
          </a:lstStyle>
          <a:p>
            <a:pPr/>
            <a:r>
              <a:t>Key Findings</a:t>
            </a:r>
          </a:p>
        </p:txBody>
      </p:sp>
      <p:sp>
        <p:nvSpPr>
          <p:cNvPr id="180" name="kf_body"/>
          <p:cNvSpPr txBox="1"/>
          <p:nvPr/>
        </p:nvSpPr>
        <p:spPr>
          <a:xfrm>
            <a:off x="521208" y="1169999"/>
            <a:ext cx="8258559" cy="9224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50000"/>
              </a:lnSpc>
              <a:buSzPct val="100000"/>
              <a:buChar char="•"/>
              <a:defRPr sz="1100">
                <a:solidFill>
                  <a:srgbClr val="CBD5E1"/>
                </a:solidFill>
              </a:defRPr>
            </a:pPr>
            <a:r>
              <a:t>Random Forest (0.64 accuracy) clearly outperformed Logistic Regression (0.32 accuracy)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1100">
                <a:solidFill>
                  <a:srgbClr val="CBD5E1"/>
                </a:solidFill>
              </a:defRPr>
            </a:pPr>
            <a:r>
              <a:t>9 simple packet-level features are enough to loosely distinguish website traffic fingerprints, but not enough to distinguish them accurately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1100">
                <a:solidFill>
                  <a:srgbClr val="CBD5E1"/>
                </a:solidFill>
              </a:defRPr>
            </a:pPr>
            <a:r>
              <a:t>ML-based classification is feasible without URL access or payload decryption, but some more work needs to be done to make it more accurate</a:t>
            </a:r>
          </a:p>
        </p:txBody>
      </p:sp>
      <p:sp>
        <p:nvSpPr>
          <p:cNvPr id="181" name="lim_hdr"/>
          <p:cNvSpPr txBox="1"/>
          <p:nvPr/>
        </p:nvSpPr>
        <p:spPr>
          <a:xfrm>
            <a:off x="521208" y="2894600"/>
            <a:ext cx="8258559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F59E0B"/>
                </a:solidFill>
              </a:defRPr>
            </a:lvl1pPr>
          </a:lstStyle>
          <a:p>
            <a:pPr/>
            <a:r>
              <a:t>Limitations</a:t>
            </a:r>
          </a:p>
        </p:txBody>
      </p:sp>
      <p:sp>
        <p:nvSpPr>
          <p:cNvPr id="182" name="lim_body"/>
          <p:cNvSpPr txBox="1"/>
          <p:nvPr/>
        </p:nvSpPr>
        <p:spPr>
          <a:xfrm>
            <a:off x="521208" y="3239999"/>
            <a:ext cx="8258559" cy="457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50000"/>
              </a:lnSpc>
              <a:buSzPct val="100000"/>
              <a:buChar char="•"/>
              <a:defRPr sz="1100">
                <a:solidFill>
                  <a:srgbClr val="CBD5E1"/>
                </a:solidFill>
              </a:defRPr>
            </a:pPr>
            <a:r>
              <a:t>Small dataset (220 sessions); more captures per site would improve generalization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1100">
                <a:solidFill>
                  <a:srgbClr val="CBD5E1"/>
                </a:solidFill>
              </a:defRPr>
            </a:pPr>
            <a:r>
              <a:t>Static sessions only; real-world traffic is dynamic and continuous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sidebar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5" name="label"/>
          <p:cNvSpPr txBox="1"/>
          <p:nvPr/>
        </p:nvSpPr>
        <p:spPr>
          <a:xfrm>
            <a:off x="338328" y="322615"/>
            <a:ext cx="7661952" cy="1960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800">
                <a:solidFill>
                  <a:srgbClr val="0D9488"/>
                </a:solidFill>
              </a:defRPr>
            </a:lvl1pPr>
          </a:lstStyle>
          <a:p>
            <a:pPr/>
            <a:r>
              <a:t>FUTURE WORK &amp; CONCLUSION</a:t>
            </a:r>
          </a:p>
        </p:txBody>
      </p:sp>
      <p:sp>
        <p:nvSpPr>
          <p:cNvPr id="186" name="pagenum"/>
          <p:cNvSpPr txBox="1"/>
          <p:nvPr/>
        </p:nvSpPr>
        <p:spPr>
          <a:xfrm>
            <a:off x="8092439" y="317667"/>
            <a:ext cx="8229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4748B"/>
                </a:solidFill>
              </a:defRPr>
            </a:lvl1pPr>
          </a:lstStyle>
          <a:p>
            <a:pPr/>
            <a:r>
              <a:t>9 / 9</a:t>
            </a:r>
          </a:p>
        </p:txBody>
      </p:sp>
      <p:sp>
        <p:nvSpPr>
          <p:cNvPr id="187" name="fw_hdr"/>
          <p:cNvSpPr txBox="1"/>
          <p:nvPr/>
        </p:nvSpPr>
        <p:spPr>
          <a:xfrm>
            <a:off x="338327" y="714600"/>
            <a:ext cx="8577746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0D9488"/>
                </a:solidFill>
              </a:defRPr>
            </a:lvl1pPr>
          </a:lstStyle>
          <a:p>
            <a:pPr/>
            <a:r>
              <a:t>Future Work</a:t>
            </a:r>
          </a:p>
        </p:txBody>
      </p:sp>
      <p:sp>
        <p:nvSpPr>
          <p:cNvPr id="188" name="fw_body"/>
          <p:cNvSpPr txBox="1"/>
          <p:nvPr/>
        </p:nvSpPr>
        <p:spPr>
          <a:xfrm>
            <a:off x="338327" y="1060000"/>
            <a:ext cx="8577746" cy="457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50000"/>
              </a:lnSpc>
              <a:buSzPct val="100000"/>
              <a:buChar char="•"/>
              <a:defRPr sz="1100">
                <a:solidFill>
                  <a:srgbClr val="94A3B8"/>
                </a:solidFill>
              </a:defRPr>
            </a:pPr>
            <a:r>
              <a:t>Expand dataset: more websites, longer sessions, diverse network conditions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1100">
                <a:solidFill>
                  <a:srgbClr val="94A3B8"/>
                </a:solidFill>
              </a:defRPr>
            </a:pPr>
            <a:r>
              <a:t>Explore deep learning: CNNs trained directly on raw packet sequences</a:t>
            </a:r>
          </a:p>
        </p:txBody>
      </p:sp>
      <p:sp>
        <p:nvSpPr>
          <p:cNvPr id="189" name="conc_box"/>
          <p:cNvSpPr/>
          <p:nvPr/>
        </p:nvSpPr>
        <p:spPr>
          <a:xfrm>
            <a:off x="292608" y="2870000"/>
            <a:ext cx="8669185" cy="2100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90" name="conc_hdr"/>
          <p:cNvSpPr txBox="1"/>
          <p:nvPr/>
        </p:nvSpPr>
        <p:spPr>
          <a:xfrm>
            <a:off x="521208" y="3004600"/>
            <a:ext cx="8258559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Conclusion</a:t>
            </a:r>
          </a:p>
        </p:txBody>
      </p:sp>
      <p:sp>
        <p:nvSpPr>
          <p:cNvPr id="191" name="conc_txt"/>
          <p:cNvSpPr txBox="1"/>
          <p:nvPr/>
        </p:nvSpPr>
        <p:spPr>
          <a:xfrm>
            <a:off x="521208" y="3359999"/>
            <a:ext cx="8258559" cy="721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CCFBF1"/>
                </a:solidFill>
              </a:defRPr>
            </a:lvl1pPr>
          </a:lstStyle>
          <a:p>
            <a:pPr/>
            <a:r>
              <a:t>This project demonstrates that machine learning, specifically Random Forest, can classify website traffic from simple packet-level features, without ever accessing URLs or encrypted content. While improvements could to be made to increase the accuracy, we think this a good demonstration of the possibilities of website classification using packet features. The approach has direct applications in network security, management, and performance optimization.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